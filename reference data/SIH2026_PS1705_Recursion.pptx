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Georeferencing round-trip (data pipeline): Raw ECW/TIFF -&gt; gdal_translate -&gt; Cloud-Optimized GeoTIFF -&gt; tiled 512x512 with 15% overlap (CRS attached per tile) -&gt; training/inference -&gt; output mask tiles (CRS re-applied from the matching input tile) -&gt; gdalwarp merge + gdal_polygonize -&gt; final Shapefile/GeoJSON, correctly georeferenced. A common failure point in this problem space is tiles losing their CRS after passing through a neural network -- we treat CRS-preservation as a first-class pipeline step, not an afterthought.</a:t>
            </a:r>
          </a:p>
          <a:p/>
          <a:p>
            <a:r>
              <a:t>Q&amp;A prep:</a:t>
            </a:r>
          </a:p>
          <a:p>
            <a:r>
              <a:t>- How is 95% accuracy measured? Per-class IoU/F1 on a held-out validation split; water bodies will likely be hardest -- mitigation is class-balanced loss + shared-backbone transfer.</a:t>
            </a:r>
          </a:p>
          <a:p>
            <a:r>
              <a:t>- Real multi-GB orthophoto, not a toy tile? Tiling + async job queue + COG streaming keeps memory constant regardless of file size.</a:t>
            </a:r>
          </a:p>
          <a:p>
            <a:r>
              <a:t>- Why not just use SAM out of the box? SAM is zero-shot and class-agnostic; production accuracy targets need class-specific, geometry-aware decoders with domain fine-tuning.</a:t>
            </a:r>
          </a:p>
          <a:p>
            <a:r>
              <a:t>- Integration with the Ministry's systems? SHP/GeoJSON/GeoPackage export, PostGIS storage, COG tile serving -- standard GIS interoperability, not a closed proprietary output.</a:t>
            </a:r>
          </a:p>
          <a:p>
            <a:r>
              <a:t>- Model size / inference time per village? To be filled in once quantized ONNX benchmarks are run -- this is the single most concrete number to bring to the table.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rxiv.org/abs/2304.02643" TargetMode="External"/><Relationship Id="rId5" Type="http://schemas.openxmlformats.org/officeDocument/2006/relationships/hyperlink" Target="https://openaccess.thecvf.com/content_cvpr_2018_workshops/papers/w4/Zhou_D-LinkNet_LinkNet_With_CVPR_2018_paper.pdf" TargetMode="External"/><Relationship Id="rId6" Type="http://schemas.openxmlformats.org/officeDocument/2006/relationships/hyperlink" Target="https://project.inria.fr/aerialimagelabeling/" TargetMode="External"/><Relationship Id="rId7" Type="http://schemas.openxmlformats.org/officeDocument/2006/relationships/hyperlink" Target="https://isprs-archives.copernicus.org/articles/XLIII-B3-2021/55/2021/" TargetMode="External"/><Relationship Id="rId8" Type="http://schemas.openxmlformats.org/officeDocument/2006/relationships/hyperlink" Target="https://www.pib.gov.in/PressReleasePage.aspx?PRID=2287257&amp;reg=48&amp;lang=2" TargetMode="External"/><Relationship Id="rId9" Type="http://schemas.openxmlformats.org/officeDocument/2006/relationships/hyperlink" Target="https://spacenet.ai/datasets/" TargetMode="External"/><Relationship Id="rId10" Type="http://schemas.openxmlformats.org/officeDocument/2006/relationships/hyperlink" Target="http://deepglobe.org/" TargetMode="External"/><Relationship Id="rId11" Type="http://schemas.openxmlformats.org/officeDocument/2006/relationships/hyperlink" Target="https://www.cs.toronto.edu/~vmnih/dat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492240" cy="448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1705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Development and Optimization of AI model for Feature Identification/Extraction from Drone Orthophotos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 Robotics and Drones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Recursion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GEOVISION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389888"/>
            <a:ext cx="6355080" cy="4434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sz="1250" dirty="0" b="1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1. Detailed Explanation of the Proposed Solution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Cloud-based AI pipeline extracts Building footprints (+ roof-type), Road networks, Water bodies from SVAMITVA orthophotos as GIS-ready vectors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Shared-backbone, multi-head architecture — one encoder, specialised decoder + loss per feature class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CRS-preserving throughout: tiles recombine losslessly into Shapefile / GeoJSON / GeoPackage</a:t>
            </a:r>
          </a:p>
          <a:p>
            <a:pPr marL="0" indent="0" algn="just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sz="1250" dirty="0" b="1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2. How It Addresses the Problem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Directly targets all 3 PS asks: building + road + water extraction, 95% accuracy target, efficient deployment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Automates GIS digitisation that must scale to ~3.3 lakh surveyed villages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Roof classes (RCC/Tiled/Tin/Other) feed solar-potential &amp; property-tax pipelines; vectors plug into MoPR's existing GIS ecosystem</a:t>
            </a:r>
          </a:p>
          <a:p>
            <a:pPr marL="0" indent="0" algn="just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sz="1250" dirty="0" b="1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3. Innovation and Uniqueness of the Solution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Shared-backbone multi-task learning improves the weak water-body class using building/road features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Georeferencing round-trip built in as a first-class step, not a manual patch</a:t>
            </a:r>
          </a:p>
          <a:p>
            <a:pPr marL="182880" indent="-146304" algn="just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 dirty="0" b="0">
                <a:solidFill>
                  <a:srgbClr val="222222"/>
                </a:solidFill>
                <a:latin typeface="Arial" pitchFamily="34" charset="0"/>
                <a:cs typeface="Arial" pitchFamily="34" charset="0"/>
              </a:rPr>
              <a:t>Boundary-aware + connectivity-aware losses per feature; pretrained on open benchmarks for demo-readiness before SVAMITVA-labelled data arrives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Team</a:t>
            </a:r>
            <a:endParaRPr lang="en-IN" dirty="0"/>
          </a:p>
          <a:p>
            <a:pPr algn="ctr"/>
            <a:r>
              <a:rPr sz="1200" b="1" i="0" u="none">
                <a:solidFill>
                  <a:srgbClr val="222222"/>
                </a:solidFill>
                <a:latin typeface="Arial"/>
              </a:rPr>
              <a:t>Recursion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014984"/>
            <a:ext cx="103144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 u="none">
                <a:solidFill>
                  <a:srgbClr val="1F497D"/>
                </a:solidFill>
                <a:latin typeface="Arial"/>
              </a:rPr>
              <a:t>Multi-Head AI Pipeline for Precision Feature Extraction from SVAMITVA Drone Orthophotos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995160" y="1389888"/>
            <a:ext cx="3794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u="none">
                <a:solidFill>
                  <a:srgbClr val="1F497D"/>
                </a:solidFill>
                <a:latin typeface="Arial"/>
              </a:rPr>
              <a:t>WHAT GEOVISION EXTRACTS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995160" y="1810512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7159752" y="2080259"/>
            <a:ext cx="512064" cy="512064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818120" y="192024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u="none">
                <a:solidFill>
                  <a:srgbClr val="1F497D"/>
                </a:solidFill>
                <a:latin typeface="Arial"/>
              </a:rPr>
              <a:t>Building Footprints</a:t>
            </a:r>
          </a:p>
          <a:p>
            <a:r>
              <a:rPr sz="1050" b="0" i="0" u="none">
                <a:solidFill>
                  <a:srgbClr val="222222"/>
                </a:solidFill>
                <a:latin typeface="Arial"/>
              </a:rPr>
              <a:t>+ roof type: RCC / Tiled / Tin / Other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995160" y="3063239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369" name="Oval 15368"/>
          <p:cNvSpPr/>
          <p:nvPr/>
        </p:nvSpPr>
        <p:spPr>
          <a:xfrm>
            <a:off x="7159752" y="3332987"/>
            <a:ext cx="512064" cy="512064"/>
          </a:xfrm>
          <a:prstGeom prst="ellipse">
            <a:avLst/>
          </a:prstGeom>
          <a:solidFill>
            <a:srgbClr val="2E8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7818120" y="3172968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u="none">
                <a:solidFill>
                  <a:srgbClr val="1F497D"/>
                </a:solidFill>
                <a:latin typeface="Arial"/>
              </a:rPr>
              <a:t>Road Networks</a:t>
            </a:r>
          </a:p>
          <a:p>
            <a:r>
              <a:rPr sz="1050" b="0" i="0" u="none">
                <a:solidFill>
                  <a:srgbClr val="222222"/>
                </a:solidFill>
                <a:latin typeface="Arial"/>
              </a:rPr>
              <a:t>Topologically continuous (connectivity-aware)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995160" y="4315968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7159752" y="4585716"/>
            <a:ext cx="512064" cy="512064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7818120" y="4425696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u="none">
                <a:solidFill>
                  <a:srgbClr val="1F497D"/>
                </a:solidFill>
                <a:latin typeface="Arial"/>
              </a:rPr>
              <a:t>Water Bodies</a:t>
            </a:r>
          </a:p>
          <a:p>
            <a:r>
              <a:rPr sz="1050" b="0" i="0" u="none">
                <a:solidFill>
                  <a:srgbClr val="222222"/>
                </a:solidFill>
                <a:latin typeface="Arial"/>
              </a:rPr>
              <a:t>Class-balanced, algae/vegetation-robust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995160" y="5586983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 u="none">
                <a:solidFill>
                  <a:srgbClr val="6B6B6B"/>
                </a:solidFill>
                <a:latin typeface="Arial"/>
              </a:rPr>
              <a:t>→ Exported as Shapefile / GeoJSON / GeoPackage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Team</a:t>
            </a:r>
            <a:endParaRPr lang="en-IN" dirty="0"/>
          </a:p>
          <a:p>
            <a:pPr algn="ctr"/>
            <a:r>
              <a:rPr sz="1200" b="1" i="0" u="none">
                <a:solidFill>
                  <a:srgbClr val="222222"/>
                </a:solidFill>
                <a:latin typeface="Arial"/>
              </a:rPr>
              <a:t>Recursion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TECH STACK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6052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SYSTEM &amp; MODEL ARCHITECTURE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344168"/>
            <a:ext cx="35661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Languages: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Python, TypeScript/JavaScript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AI / Modeling: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PyTorch · UNet++ (buildings) · D-LinkNet-style (roads) · shared-backbone variant (water) · EfficientNet-B0/B4 (roof classifier) · ONNX Runtime/TensorRT · Albumentations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Geospatial: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GDAL, Rasterio, GeoPandas, Shapely, PyProj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Backend: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FastAPI · Celery + Redis (async jobs) · PostgreSQL + PostGIS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Frontend: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React + Next.js, Tailwind CSS, Mapbox GL JS / Leaflet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Infra: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Docker · GPU spot (train) / CPU-ONNX (serve) · TiTiler/GeoServer · AWS/GCP/Azure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Formats:  </a:t>
            </a:r>
            <a:r>
              <a:rPr sz="950" b="0" i="0" u="none">
                <a:solidFill>
                  <a:srgbClr val="222222"/>
                </a:solidFill>
                <a:latin typeface="Arial"/>
              </a:rPr>
              <a:t>In: ECW, GeoTIFF  |  Out: SHP, GeoJSON, GeoPackage, COG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sz="300" b="0" i="0" u="none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60520" y="1344168"/>
            <a:ext cx="7571232" cy="384048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1.  WEB FRONTEND + REST API</a:t>
            </a:r>
          </a:p>
          <a:p>
            <a:pPr algn="ctr"/>
            <a:r>
              <a:rPr sz="850" b="0" i="0" u="none">
                <a:solidFill>
                  <a:srgbClr val="1F497D"/>
                </a:solidFill>
                <a:latin typeface="Arial"/>
              </a:rPr>
              <a:t>React upload UI + map viewer  ·  FastAPI  ·  async job queue (Celery/Redis)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808976" y="171450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▼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60520" y="1847088"/>
            <a:ext cx="7571232" cy="384048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2.  GEOSPATIAL PRE-PROCESSING</a:t>
            </a:r>
          </a:p>
          <a:p>
            <a:pPr algn="ctr"/>
            <a:r>
              <a:rPr sz="850" b="0" i="0" u="none">
                <a:solidFill>
                  <a:srgbClr val="1F497D"/>
                </a:solidFill>
                <a:latin typeface="Arial"/>
              </a:rPr>
              <a:t>GDAL/Rasterio: ECW/TIFF → COG-GeoTIFF → 512×512 tiles, CRS tagged per tile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808976" y="22174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▼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60520" y="2350008"/>
            <a:ext cx="7571232" cy="1024128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Arial"/>
              </a:rPr>
              <a:t>3.  AI INFERENCE MICROSERVICE</a:t>
            </a:r>
          </a:p>
          <a:p>
            <a:pPr algn="ctr"/>
            <a:r>
              <a:rPr sz="850" b="0" i="1" u="none">
                <a:solidFill>
                  <a:srgbClr val="CFDDF0"/>
                </a:solidFill>
                <a:latin typeface="Arial"/>
              </a:rPr>
              <a:t>Shared Encoder Backbone (EfficientNet / ResNet, ImageNet-pretrained) → 3 specialised decoder heads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97680" y="2770632"/>
            <a:ext cx="2371344" cy="3291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Building Head</a:t>
            </a:r>
          </a:p>
          <a:p>
            <a:pPr algn="ctr"/>
            <a:r>
              <a:rPr sz="750" b="0" i="0" u="none">
                <a:solidFill>
                  <a:srgbClr val="222222"/>
                </a:solidFill>
                <a:latin typeface="Arial"/>
              </a:rPr>
              <a:t>boundary-aware loss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760464" y="2770632"/>
            <a:ext cx="2371344" cy="3291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8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u="none">
                <a:solidFill>
                  <a:srgbClr val="2E869C"/>
                </a:solidFill>
                <a:latin typeface="Arial"/>
              </a:rPr>
              <a:t>Road Head</a:t>
            </a:r>
          </a:p>
          <a:p>
            <a:pPr algn="ctr"/>
            <a:r>
              <a:rPr sz="750" b="0" i="0" u="none">
                <a:solidFill>
                  <a:srgbClr val="222222"/>
                </a:solidFill>
                <a:latin typeface="Arial"/>
              </a:rPr>
              <a:t>connectivity-aware loss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223248" y="2770632"/>
            <a:ext cx="2371344" cy="3291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u="none">
                <a:solidFill>
                  <a:srgbClr val="F79646"/>
                </a:solidFill>
                <a:latin typeface="Arial"/>
              </a:rPr>
              <a:t>Water Head</a:t>
            </a:r>
          </a:p>
          <a:p>
            <a:pPr algn="ctr"/>
            <a:r>
              <a:rPr sz="750" b="0" i="0" u="none">
                <a:solidFill>
                  <a:srgbClr val="222222"/>
                </a:solidFill>
                <a:latin typeface="Arial"/>
              </a:rPr>
              <a:t>class-balanced + Tversky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60520" y="3145536"/>
            <a:ext cx="7571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 u="none">
                <a:solidFill>
                  <a:srgbClr val="CFDDF0"/>
                </a:solidFill>
                <a:latin typeface="Arial"/>
              </a:rPr>
              <a:t>+ Roof-Type Classifier (EfficientNet, transfer learning) on cropped building regions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808976" y="33604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▼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160520" y="3493008"/>
            <a:ext cx="7571232" cy="384048"/>
          </a:xfrm>
          <a:prstGeom prst="roundRect">
            <a:avLst>
              <a:gd name="adj" fmla="val 10000"/>
            </a:avLst>
          </a:prstGeom>
          <a:solidFill>
            <a:srgbClr val="D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4.  POST-PROCESSING &amp; VECTORIZATION</a:t>
            </a:r>
          </a:p>
          <a:p>
            <a:pPr algn="ctr"/>
            <a:r>
              <a:rPr sz="850" b="0" i="0" u="none">
                <a:solidFill>
                  <a:srgbClr val="1F497D"/>
                </a:solidFill>
                <a:latin typeface="Arial"/>
              </a:rPr>
              <a:t>GDAL: merge tiles, re-apply CRS, polygonize, simplify, attribute-tag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808976" y="3863339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▼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60520" y="3995928"/>
            <a:ext cx="7571232" cy="384048"/>
          </a:xfrm>
          <a:prstGeom prst="roundRect">
            <a:avLst>
              <a:gd name="adj" fmla="val 10000"/>
            </a:avLst>
          </a:prstGeom>
          <a:solidFill>
            <a:srgbClr val="D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5.  OUTPUT &amp; GIS INTEGRATION</a:t>
            </a:r>
          </a:p>
          <a:p>
            <a:pPr algn="ctr"/>
            <a:r>
              <a:rPr sz="850" b="0" i="0" u="none">
                <a:solidFill>
                  <a:srgbClr val="1F497D"/>
                </a:solidFill>
                <a:latin typeface="Arial"/>
              </a:rPr>
              <a:t>PostGIS DB  ·  SHP / GeoJSON / GeoPackage  ·  COG tiles → MoPR GIS systems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7200" y="442569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 u="none">
                <a:solidFill>
                  <a:srgbClr val="1F497D"/>
                </a:solidFill>
                <a:latin typeface="Arial"/>
              </a:rPr>
              <a:t>MODEL COMPARISON  </a:t>
            </a:r>
            <a:r>
              <a:rPr sz="950" b="0" i="1" u="none">
                <a:solidFill>
                  <a:srgbClr val="6B6B6B"/>
                </a:solidFill>
                <a:latin typeface="Arial"/>
              </a:rPr>
              <a:t>(numeric columns fill in once training/benchmarking completes)</a:t>
            </a:r>
          </a:p>
        </p:txBody>
      </p:sp>
      <p:graphicFrame>
        <p:nvGraphicFramePr>
          <p:cNvPr id="17427" name="Table 17426"/>
          <p:cNvGraphicFramePr>
            <a:graphicFrameLocks noGrp="1"/>
          </p:cNvGraphicFramePr>
          <p:nvPr/>
        </p:nvGraphicFramePr>
        <p:xfrm>
          <a:off x="457200" y="4736592"/>
          <a:ext cx="11155680" cy="143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737360"/>
                <a:gridCol w="1737360"/>
                <a:gridCol w="1737360"/>
                <a:gridCol w="1737360"/>
              </a:tblGrid>
              <a:tr h="2392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u="none">
                          <a:solidFill>
                            <a:srgbClr val="FFFFFF"/>
                          </a:solidFill>
                          <a:latin typeface="Arial"/>
                        </a:rPr>
                        <a:t>Model / Approach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u="none">
                          <a:solidFill>
                            <a:srgbClr val="FFFFFF"/>
                          </a:solidFill>
                          <a:latin typeface="Arial"/>
                        </a:rPr>
                        <a:t>Buildings IoU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u="none">
                          <a:solidFill>
                            <a:srgbClr val="FFFFFF"/>
                          </a:solidFill>
                          <a:latin typeface="Arial"/>
                        </a:rPr>
                        <a:t>Roads IoU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u="none">
                          <a:solidFill>
                            <a:srgbClr val="FFFFFF"/>
                          </a:solidFill>
                          <a:latin typeface="Arial"/>
                        </a:rPr>
                        <a:t>Water IoU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u="none">
                          <a:solidFill>
                            <a:srgbClr val="FFFFFF"/>
                          </a:solidFill>
                          <a:latin typeface="Arial"/>
                        </a:rPr>
                        <a:t>Inference Speed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</a:tr>
              <a:tr h="23926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Single generic U-Net (all classes) — 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926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SAM (zero-shot) / Detectron2 (fine-tuned) — reference comparisons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</a:tr>
              <a:tr h="23926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UNet++ (ours — buildings, boundary-aware loss)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926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D-LinkNet-style (ours — roads, connectivity-aware loss)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</a:tr>
              <a:tr h="23926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Class-balanced UNet variant (ours — water, Tversky loss)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 u="none">
                          <a:solidFill>
                            <a:srgbClr val="8A8A8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Team</a:t>
            </a:r>
            <a:endParaRPr lang="en-IN" dirty="0"/>
          </a:p>
          <a:p>
            <a:pPr algn="ctr"/>
            <a:r>
              <a:rPr sz="1200" b="1" i="0" u="none">
                <a:solidFill>
                  <a:srgbClr val="222222"/>
                </a:solidFill>
                <a:latin typeface="Arial"/>
              </a:rPr>
              <a:t>Recursion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ANALYSIS OF FEASIBILITY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344168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Technical: </a:t>
            </a:r>
            <a:r>
              <a:rPr sz="1050" b="0" i="0" u="none">
                <a:solidFill>
                  <a:srgbClr val="222222"/>
                </a:solidFill>
                <a:latin typeface="Arial"/>
              </a:rPr>
              <a:t>proven, open-source components (segmentation architectures, GDAL, transfer learning) — the innovation is in combining &amp; tuning them for this problem, not unproven research</a:t>
            </a:r>
          </a:p>
          <a:p>
            <a:pPr marL="182880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Data: </a:t>
            </a:r>
            <a:r>
              <a:rPr sz="1050" b="0" i="0" u="none">
                <a:solidFill>
                  <a:srgbClr val="222222"/>
                </a:solidFill>
                <a:latin typeface="Arial"/>
              </a:rPr>
              <a:t>SVAMITVA sample sets (10-village drone-labelled) + open benchmarks (WHU, Inria, SpaceNet, Massachusetts, DeepGlobe) give a workable path before large labelled volumes arrive</a:t>
            </a:r>
          </a:p>
          <a:p>
            <a:pPr marL="182880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Infrastructure: </a:t>
            </a:r>
            <a:r>
              <a:rPr sz="1050" b="0" i="0" u="none">
                <a:solidFill>
                  <a:srgbClr val="222222"/>
                </a:solidFill>
                <a:latin typeface="Arial"/>
              </a:rPr>
              <a:t>cloud GPU spot instances for training + CPU/ONNX inference — no specialised hardware, scales on any mid-size GPU VM</a:t>
            </a:r>
          </a:p>
          <a:p>
            <a:pPr marL="182880" indent="-146304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Operational: </a:t>
            </a:r>
            <a:r>
              <a:rPr sz="1050" b="0" i="0" u="none">
                <a:solidFill>
                  <a:srgbClr val="222222"/>
                </a:solidFill>
                <a:latin typeface="Arial"/>
              </a:rPr>
              <a:t>SHP/GeoJSON output matches MoPR's existing GIS ecosystem — a realistic integration path, not a speculative one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72491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POTENTIAL CHALLENGES &amp; STRATEGIES FOR OVERCOMING THEM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457200" y="3017520"/>
          <a:ext cx="1069847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49039"/>
                <a:gridCol w="4206240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Why It's Real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Mitigation Strategy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497D"/>
                          </a:solidFill>
                          <a:latin typeface="Arial"/>
                        </a:rPr>
                        <a:t>Water body segmentation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Historically the hardest class — small samples, algae/vegetation confusion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Class-balanced sampling + Tversky/Dice loss, heavy augmentation, shared-backbone transfer from building/road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497D"/>
                          </a:solidFill>
                          <a:latin typeface="Arial"/>
                        </a:rPr>
                        <a:t>ECW licensing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ECW needs a paid license to write/reprocess; free tier is read-only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Convert to Cloud-Optimized GeoTIFF on ingest (one-time, license-free); all downstream processing on COG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497D"/>
                          </a:solidFill>
                          <a:latin typeface="Arial"/>
                        </a:rPr>
                        <a:t>Large orthomosaic file sizes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Multi-GB files can't be processed synchronously or fit in memory as one tensor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Tiling with overlap + windowed/streamed reads (Rasterio); async job queue so uploads never block the UI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497D"/>
                          </a:solidFill>
                          <a:latin typeface="Arial"/>
                        </a:rPr>
                        <a:t>Domain gap: benchmarks vs SVAMITVA imagery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Global datasets differ in resolution, geography, building style from Indian villages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Pretrain on open benchmarks to validate the pipeline, then fine-tune on real SVAMITVA data as it arrives (staged transfer)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u="none">
                          <a:solidFill>
                            <a:srgbClr val="1F497D"/>
                          </a:solidFill>
                          <a:latin typeface="Arial"/>
                        </a:rPr>
                        <a:t>95% accuracy target vs inference speed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Larger, more accurate models are typically slower — a real trade-off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u="none">
                          <a:solidFill>
                            <a:srgbClr val="222222"/>
                          </a:solidFill>
                          <a:latin typeface="Arial"/>
                        </a:rPr>
                        <a:t>INT8/FP16 quantization + ONNX export after reaching target accuracy in FP32, with before/after benchmarks reported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Team</a:t>
            </a:r>
            <a:endParaRPr lang="en-IN" dirty="0"/>
          </a:p>
          <a:p>
            <a:pPr algn="ctr"/>
            <a:r>
              <a:rPr sz="1200" b="1" i="0" u="none">
                <a:solidFill>
                  <a:srgbClr val="222222"/>
                </a:solidFill>
                <a:latin typeface="Arial"/>
              </a:rPr>
              <a:t>Recursion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362456"/>
            <a:ext cx="3575304" cy="14173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621792" y="1508760"/>
            <a:ext cx="128016" cy="128016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841247" y="1453896"/>
            <a:ext cx="30266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Rural Households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 u="none">
                <a:solidFill>
                  <a:srgbClr val="222222"/>
                </a:solidFill>
                <a:latin typeface="Arial"/>
              </a:rPr>
              <a:t>Faster, more accurate property cards → faster access to bank loans &amp; formal credit using land as collateral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06824" y="1362456"/>
            <a:ext cx="3575304" cy="14173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4471416" y="1508760"/>
            <a:ext cx="128016" cy="128016"/>
          </a:xfrm>
          <a:prstGeom prst="ellipse">
            <a:avLst/>
          </a:prstGeom>
          <a:solidFill>
            <a:srgbClr val="2E8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690872" y="1453896"/>
            <a:ext cx="30266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2E869C"/>
                </a:solidFill>
                <a:latin typeface="Arial"/>
              </a:rPr>
              <a:t>Gram Panchayats / Local 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 u="none">
                <a:solidFill>
                  <a:srgbClr val="222222"/>
                </a:solidFill>
                <a:latin typeface="Arial"/>
              </a:rPr>
              <a:t>Automated, consistent extraction removes manual GIS labour at the scale of lakhs of villages — sustains SVAMITVA's pace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56448" y="1362456"/>
            <a:ext cx="3575304" cy="14173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8321040" y="1508760"/>
            <a:ext cx="128016" cy="12801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540496" y="1453896"/>
            <a:ext cx="30266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F79646"/>
                </a:solidFill>
                <a:latin typeface="Arial"/>
              </a:rPr>
              <a:t>Survey of India / MoPR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 u="none">
                <a:solidFill>
                  <a:srgbClr val="222222"/>
                </a:solidFill>
                <a:latin typeface="Arial"/>
              </a:rPr>
              <a:t>Deployable, benchmarked AI layer plugging into the existing survey-to-property-card pipeline — cuts turnaround time per village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2807208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 u="none">
                <a:solidFill>
                  <a:srgbClr val="1F497D"/>
                </a:solidFill>
                <a:latin typeface="Arial"/>
              </a:rPr>
              <a:t>BENEFITS OF THE SOLUTION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457200" y="3099816"/>
          <a:ext cx="11274552" cy="307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079992"/>
              </a:tblGrid>
              <a:tr h="512063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1F497D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u="none">
                          <a:solidFill>
                            <a:srgbClr val="1F497D"/>
                          </a:solidFill>
                          <a:latin typeface="Arial"/>
                        </a:rPr>
                        <a:t>Social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222222"/>
                          </a:solidFill>
                          <a:latin typeface="Arial"/>
                        </a:rPr>
                        <a:t>Fewer property disputes via precise, consistent boundary data; formal land ownership for undocumented rural households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u="none">
                          <a:solidFill>
                            <a:srgbClr val="1F497D"/>
                          </a:solidFill>
                          <a:latin typeface="Arial"/>
                        </a:rPr>
                        <a:t>Economic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222222"/>
                          </a:solidFill>
                          <a:latin typeface="Arial"/>
                        </a:rPr>
                        <a:t>Faster property card issuance → faster loan access; automated roof-type classification feeds solar-potential &amp; property-tax assessment at scale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u="none">
                          <a:solidFill>
                            <a:srgbClr val="1F497D"/>
                          </a:solidFill>
                          <a:latin typeface="Arial"/>
                        </a:rPr>
                        <a:t>Administrative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222222"/>
                          </a:solidFill>
                          <a:latin typeface="Arial"/>
                        </a:rPr>
                        <a:t>Removes manual digitisation bottleneck; consistent, auditable, reproducible outputs across all surveyed villages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u="none">
                          <a:solidFill>
                            <a:srgbClr val="1F497D"/>
                          </a:solidFill>
                          <a:latin typeface="Arial"/>
                        </a:rPr>
                        <a:t>Environmental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222222"/>
                          </a:solidFill>
                          <a:latin typeface="Arial"/>
                        </a:rPr>
                        <a:t>Data-driven village planning — water body mapping for conservation/flood-risk, solar potential mapping for renewable rollout</a:t>
                      </a:r>
                    </a:p>
                  </a:txBody>
                  <a:tcPr marL="54864" marR="54864" marT="27432" marB="27432" anchor="ctr">
                    <a:solidFill>
                      <a:srgbClr val="EEEEEE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u="none">
                          <a:solidFill>
                            <a:srgbClr val="1F497D"/>
                          </a:solidFill>
                          <a:latin typeface="Arial"/>
                        </a:rPr>
                        <a:t>Scalability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222222"/>
                          </a:solidFill>
                          <a:latin typeface="Arial"/>
                        </a:rPr>
                        <a:t>Cloud-native, containerised design — the same pipeline scales from one village to the remaining lakh+ without architectural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34440"/>
            <a:ext cx="11274552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01168" indent="-18288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u="none">
                <a:solidFill>
                  <a:srgbClr val="222222"/>
                </a:solidFill>
                <a:latin typeface="Arial"/>
              </a:rPr>
              <a:t>Kirillov, A. et al., </a:t>
            </a:r>
            <a:r>
              <a:rPr sz="1300" u="sng">
                <a:solidFill>
                  <a:srgbClr val="104E8B"/>
                </a:solidFill>
                <a:latin typeface="Arial"/>
                <a:hlinkClick r:id="rId4"/>
              </a:rPr>
              <a:t>“Segment Anything,” ICCV 2023</a:t>
            </a:r>
          </a:p>
          <a:p>
            <a:pPr marL="201168" indent="-18288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u="none">
                <a:solidFill>
                  <a:srgbClr val="222222"/>
                </a:solidFill>
                <a:latin typeface="Arial"/>
              </a:rPr>
              <a:t>Zhou, L., Zhang, C., Wu, M., </a:t>
            </a:r>
            <a:r>
              <a:rPr sz="1300" u="sng">
                <a:solidFill>
                  <a:srgbClr val="104E8B"/>
                </a:solidFill>
                <a:latin typeface="Arial"/>
                <a:hlinkClick r:id="rId5"/>
              </a:rPr>
              <a:t>“D-LinkNet: LinkNet with Pretrained Encoder and Dilated Convolution for Road Extraction,” CVPRW 2018</a:t>
            </a:r>
          </a:p>
          <a:p>
            <a:pPr marL="201168" indent="-18288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u="sng">
                <a:solidFill>
                  <a:srgbClr val="104E8B"/>
                </a:solidFill>
                <a:latin typeface="Arial"/>
                <a:hlinkClick r:id="rId6"/>
              </a:rPr>
              <a:t>ISPRS Inria Aerial Image Labeling Benchmark (building segmentation)</a:t>
            </a:r>
          </a:p>
          <a:p>
            <a:pPr marL="201168" indent="-18288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u="none">
                <a:solidFill>
                  <a:srgbClr val="222222"/>
                </a:solidFill>
                <a:latin typeface="Arial"/>
              </a:rPr>
              <a:t>Büyükdemircioğlu, Can, Kocaman, </a:t>
            </a:r>
            <a:r>
              <a:rPr sz="1300" u="sng">
                <a:solidFill>
                  <a:srgbClr val="104E8B"/>
                </a:solidFill>
                <a:latin typeface="Arial"/>
                <a:hlinkClick r:id="rId7"/>
              </a:rPr>
              <a:t>“Deep Learning Based Roof Type Classification Using Very High Resolution Aerial Imagery,” ISPRS Archives 2021</a:t>
            </a:r>
          </a:p>
          <a:p>
            <a:pPr marL="201168" indent="-18288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u="sng">
                <a:solidFill>
                  <a:srgbClr val="104E8B"/>
                </a:solidFill>
                <a:latin typeface="Arial"/>
                <a:hlinkClick r:id="rId8"/>
              </a:rPr>
              <a:t>Survey of India / Ministry of Panchayati Raj — SVAMITVA Scheme, PIB press release (Mar 2026): 3.29 of 3.44 lakh villages surveyed</a:t>
            </a:r>
          </a:p>
          <a:p>
            <a:pPr marL="201168" indent="-18288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u="none">
                <a:solidFill>
                  <a:srgbClr val="222222"/>
                </a:solidFill>
                <a:latin typeface="Arial"/>
              </a:rPr>
              <a:t>Open benchmark datasets used for pretraining/validation: </a:t>
            </a:r>
            <a:r>
              <a:rPr sz="1300" u="sng">
                <a:solidFill>
                  <a:srgbClr val="104E8B"/>
                </a:solidFill>
                <a:latin typeface="Arial"/>
                <a:hlinkClick r:id="rId9"/>
              </a:rPr>
              <a:t>SpaceNet</a:t>
            </a:r>
            <a:r>
              <a:rPr sz="1300" b="0" i="0" u="none">
                <a:solidFill>
                  <a:srgbClr val="222222"/>
                </a:solidFill>
                <a:latin typeface="Arial"/>
              </a:rPr>
              <a:t>  ·  </a:t>
            </a:r>
            <a:r>
              <a:rPr sz="1300" u="sng">
                <a:solidFill>
                  <a:srgbClr val="104E8B"/>
                </a:solidFill>
                <a:latin typeface="Arial"/>
                <a:hlinkClick r:id="rId10"/>
              </a:rPr>
              <a:t>DeepGlobe</a:t>
            </a:r>
            <a:r>
              <a:rPr sz="1300" b="0" i="0" u="none">
                <a:solidFill>
                  <a:srgbClr val="222222"/>
                </a:solidFill>
                <a:latin typeface="Arial"/>
              </a:rPr>
              <a:t>  ·  </a:t>
            </a:r>
            <a:r>
              <a:rPr sz="1300" u="sng">
                <a:solidFill>
                  <a:srgbClr val="104E8B"/>
                </a:solidFill>
                <a:latin typeface="Arial"/>
                <a:hlinkClick r:id="rId11"/>
              </a:rPr>
              <a:t>Massachusetts Roads Dataset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Team</a:t>
            </a:r>
            <a:endParaRPr lang="en-IN" dirty="0"/>
          </a:p>
          <a:p>
            <a:pPr algn="ctr"/>
            <a:r>
              <a:rPr sz="1200" b="1" i="0" u="none">
                <a:solidFill>
                  <a:srgbClr val="222222"/>
                </a:solidFill>
                <a:latin typeface="Arial"/>
              </a:rPr>
              <a:t>Recursion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